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79" r:id="rId3"/>
    <p:sldId id="280" r:id="rId4"/>
    <p:sldId id="258" r:id="rId5"/>
    <p:sldId id="262" r:id="rId6"/>
    <p:sldId id="281" r:id="rId7"/>
    <p:sldId id="263" r:id="rId8"/>
    <p:sldId id="264" r:id="rId9"/>
    <p:sldId id="278" r:id="rId10"/>
    <p:sldId id="283" r:id="rId11"/>
    <p:sldId id="266" r:id="rId12"/>
    <p:sldId id="268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4660"/>
  </p:normalViewPr>
  <p:slideViewPr>
    <p:cSldViewPr snapToGrid="0">
      <p:cViewPr varScale="1">
        <p:scale>
          <a:sx n="84" d="100"/>
          <a:sy n="84" d="100"/>
        </p:scale>
        <p:origin x="634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F5C2CF-7758-4B8F-8A07-89667636CCB4}" type="datetimeFigureOut">
              <a:rPr lang="ru-RU" smtClean="0"/>
              <a:t>16.06.2019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387B6C-B26A-4BD2-9AD8-E9BA427228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4067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387B6C-B26A-4BD2-9AD8-E9BA42722865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3041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B4060-8153-47AD-B2D9-7E381CBDD5E0}" type="datetimeFigureOut">
              <a:rPr lang="ru-RU" smtClean="0"/>
              <a:t>16.06.2019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59084-291C-4BE0-8678-BD5E77D2FD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5431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B4060-8153-47AD-B2D9-7E381CBDD5E0}" type="datetimeFigureOut">
              <a:rPr lang="ru-RU" smtClean="0"/>
              <a:t>16.06.2019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59084-291C-4BE0-8678-BD5E77D2FD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8349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B4060-8153-47AD-B2D9-7E381CBDD5E0}" type="datetimeFigureOut">
              <a:rPr lang="ru-RU" smtClean="0"/>
              <a:t>16.06.2019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59084-291C-4BE0-8678-BD5E77D2FD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6510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B4060-8153-47AD-B2D9-7E381CBDD5E0}" type="datetimeFigureOut">
              <a:rPr lang="ru-RU" smtClean="0"/>
              <a:t>16.06.2019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59084-291C-4BE0-8678-BD5E77D2FD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6215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B4060-8153-47AD-B2D9-7E381CBDD5E0}" type="datetimeFigureOut">
              <a:rPr lang="ru-RU" smtClean="0"/>
              <a:t>16.06.2019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59084-291C-4BE0-8678-BD5E77D2FD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2788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B4060-8153-47AD-B2D9-7E381CBDD5E0}" type="datetimeFigureOut">
              <a:rPr lang="ru-RU" smtClean="0"/>
              <a:t>16.06.2019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59084-291C-4BE0-8678-BD5E77D2FD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2204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B4060-8153-47AD-B2D9-7E381CBDD5E0}" type="datetimeFigureOut">
              <a:rPr lang="ru-RU" smtClean="0"/>
              <a:t>16.06.2019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59084-291C-4BE0-8678-BD5E77D2FD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6661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B4060-8153-47AD-B2D9-7E381CBDD5E0}" type="datetimeFigureOut">
              <a:rPr lang="ru-RU" smtClean="0"/>
              <a:t>16.06.2019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59084-291C-4BE0-8678-BD5E77D2FD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2445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B4060-8153-47AD-B2D9-7E381CBDD5E0}" type="datetimeFigureOut">
              <a:rPr lang="ru-RU" smtClean="0"/>
              <a:t>16.06.2019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59084-291C-4BE0-8678-BD5E77D2FD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298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B4060-8153-47AD-B2D9-7E381CBDD5E0}" type="datetimeFigureOut">
              <a:rPr lang="ru-RU" smtClean="0"/>
              <a:t>16.06.2019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59084-291C-4BE0-8678-BD5E77D2FD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3759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B4060-8153-47AD-B2D9-7E381CBDD5E0}" type="datetimeFigureOut">
              <a:rPr lang="ru-RU" smtClean="0"/>
              <a:t>16.06.2019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59084-291C-4BE0-8678-BD5E77D2FD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2075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4B4060-8153-47AD-B2D9-7E381CBDD5E0}" type="datetimeFigureOut">
              <a:rPr lang="ru-RU" smtClean="0"/>
              <a:t>16.06.2019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59084-291C-4BE0-8678-BD5E77D2FD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1634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habr.com/ru/company/yandex/blog/270765/" TargetMode="External"/><Relationship Id="rId2" Type="http://schemas.openxmlformats.org/officeDocument/2006/relationships/hyperlink" Target="http://fizmat.by/kursy/magnetizm/magnit_pol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16052" y="0"/>
            <a:ext cx="11359896" cy="5586984"/>
          </a:xfrm>
        </p:spPr>
        <p:txBody>
          <a:bodyPr>
            <a:normAutofit/>
          </a:bodyPr>
          <a:lstStyle/>
          <a:p>
            <a:r>
              <a:rPr lang="ru-RU" dirty="0" smtClean="0">
                <a:solidFill>
                  <a:schemeClr val="bg1"/>
                </a:solidFill>
                <a:latin typeface="Sylfaen" panose="010A0502050306030303" pitchFamily="18" charset="0"/>
              </a:rPr>
              <a:t>Приложение для визуализации звука</a:t>
            </a:r>
            <a:r>
              <a:rPr lang="en-US" dirty="0" smtClean="0">
                <a:solidFill>
                  <a:schemeClr val="bg1"/>
                </a:solidFill>
                <a:latin typeface="Sylfaen" panose="010A0502050306030303" pitchFamily="18" charset="0"/>
              </a:rPr>
              <a:t/>
            </a:r>
            <a:br>
              <a:rPr lang="en-US" dirty="0" smtClean="0">
                <a:solidFill>
                  <a:schemeClr val="bg1"/>
                </a:solidFill>
                <a:latin typeface="Sylfaen" panose="010A0502050306030303" pitchFamily="18" charset="0"/>
              </a:rPr>
            </a:br>
            <a:r>
              <a:rPr lang="ru-RU" dirty="0" smtClean="0">
                <a:solidFill>
                  <a:schemeClr val="bg1"/>
                </a:solidFill>
                <a:latin typeface="Sylfaen" panose="010A0502050306030303" pitchFamily="18" charset="0"/>
              </a:rPr>
              <a:t>с помощью векторов магнитной индукции</a:t>
            </a:r>
            <a:br>
              <a:rPr lang="ru-RU" dirty="0" smtClean="0">
                <a:solidFill>
                  <a:schemeClr val="bg1"/>
                </a:solidFill>
                <a:latin typeface="Sylfaen" panose="010A0502050306030303" pitchFamily="18" charset="0"/>
              </a:rPr>
            </a:br>
            <a:r>
              <a:rPr lang="ru-RU" dirty="0">
                <a:solidFill>
                  <a:schemeClr val="bg1"/>
                </a:solidFill>
              </a:rPr>
              <a:t/>
            </a:r>
            <a:br>
              <a:rPr lang="ru-RU" dirty="0">
                <a:solidFill>
                  <a:schemeClr val="bg1"/>
                </a:solidFill>
              </a:rPr>
            </a:b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4800918"/>
            <a:ext cx="9144000" cy="1655762"/>
          </a:xfrm>
        </p:spPr>
        <p:txBody>
          <a:bodyPr/>
          <a:lstStyle/>
          <a:p>
            <a:r>
              <a:rPr lang="ru-RU" dirty="0" smtClean="0">
                <a:solidFill>
                  <a:schemeClr val="bg1"/>
                </a:solidFill>
              </a:rPr>
              <a:t>Автор</a:t>
            </a:r>
            <a:r>
              <a:rPr lang="en-US" dirty="0" smtClean="0">
                <a:solidFill>
                  <a:schemeClr val="bg1"/>
                </a:solidFill>
              </a:rPr>
              <a:t>:</a:t>
            </a:r>
            <a:r>
              <a:rPr lang="ru-RU" dirty="0" smtClean="0">
                <a:solidFill>
                  <a:schemeClr val="bg1"/>
                </a:solidFill>
              </a:rPr>
              <a:t> Лука Марков, 10.4</a:t>
            </a:r>
          </a:p>
          <a:p>
            <a:r>
              <a:rPr lang="ru-RU" dirty="0" smtClean="0">
                <a:solidFill>
                  <a:schemeClr val="bg1"/>
                </a:solidFill>
              </a:rPr>
              <a:t>Заказчик</a:t>
            </a:r>
            <a:r>
              <a:rPr lang="en-US" dirty="0" smtClean="0">
                <a:solidFill>
                  <a:schemeClr val="bg1"/>
                </a:solidFill>
              </a:rPr>
              <a:t>: </a:t>
            </a:r>
            <a:r>
              <a:rPr lang="ru-RU" dirty="0" smtClean="0">
                <a:solidFill>
                  <a:schemeClr val="bg1"/>
                </a:solidFill>
              </a:rPr>
              <a:t>Н.К. </a:t>
            </a:r>
            <a:r>
              <a:rPr lang="ru-RU" dirty="0" err="1" smtClean="0">
                <a:solidFill>
                  <a:schemeClr val="bg1"/>
                </a:solidFill>
              </a:rPr>
              <a:t>Завриев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7015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ctrTitle"/>
          </p:nvPr>
        </p:nvSpPr>
        <p:spPr>
          <a:xfrm>
            <a:off x="2230924" y="0"/>
            <a:ext cx="4846320" cy="950976"/>
          </a:xfrm>
        </p:spPr>
        <p:txBody>
          <a:bodyPr>
            <a:normAutofit/>
          </a:bodyPr>
          <a:lstStyle/>
          <a:p>
            <a:r>
              <a:rPr lang="ru-RU" sz="5400" dirty="0" smtClean="0">
                <a:solidFill>
                  <a:schemeClr val="bg1"/>
                </a:solidFill>
                <a:latin typeface="Sylfaen" panose="010A0502050306030303" pitchFamily="18" charset="0"/>
              </a:rPr>
              <a:t>Актуальность </a:t>
            </a:r>
            <a:endParaRPr lang="ru-RU" sz="5400" dirty="0">
              <a:solidFill>
                <a:schemeClr val="bg1"/>
              </a:solidFill>
              <a:latin typeface="Sylfaen" panose="010A0502050306030303" pitchFamily="18" charset="0"/>
            </a:endParaRPr>
          </a:p>
        </p:txBody>
      </p:sp>
      <p:sp>
        <p:nvSpPr>
          <p:cNvPr id="7" name="Подзаголовок 6"/>
          <p:cNvSpPr>
            <a:spLocks noGrp="1"/>
          </p:cNvSpPr>
          <p:nvPr>
            <p:ph type="subTitle" idx="1"/>
          </p:nvPr>
        </p:nvSpPr>
        <p:spPr>
          <a:xfrm>
            <a:off x="0" y="1234628"/>
            <a:ext cx="7086599" cy="3916492"/>
          </a:xfrm>
          <a:solidFill>
            <a:schemeClr val="tx1">
              <a:alpha val="40000"/>
            </a:schemeClr>
          </a:solidFill>
        </p:spPr>
        <p:txBody>
          <a:bodyPr>
            <a:normAutofit lnSpcReduction="10000"/>
          </a:bodyPr>
          <a:lstStyle/>
          <a:p>
            <a:pPr algn="l"/>
            <a:r>
              <a:rPr lang="ru-RU" sz="2800" dirty="0" smtClean="0">
                <a:solidFill>
                  <a:schemeClr val="bg1"/>
                </a:solidFill>
              </a:rPr>
              <a:t>Большинство артистов используют заранее заготовленные визуализации или какие-либо шоу.</a:t>
            </a:r>
            <a:r>
              <a:rPr lang="en-US" sz="2800" dirty="0" smtClean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Это повторяется из выступления в выступление и надоедает. В современном мире</a:t>
            </a:r>
            <a:r>
              <a:rPr lang="en-US" sz="2800" dirty="0" smtClean="0">
                <a:solidFill>
                  <a:schemeClr val="bg1"/>
                </a:solidFill>
              </a:rPr>
              <a:t> </a:t>
            </a:r>
            <a:r>
              <a:rPr lang="ru-RU" sz="2800" dirty="0">
                <a:solidFill>
                  <a:schemeClr val="bg1"/>
                </a:solidFill>
              </a:rPr>
              <a:t>у</a:t>
            </a:r>
            <a:r>
              <a:rPr lang="ru-RU" sz="2800" dirty="0" smtClean="0">
                <a:solidFill>
                  <a:schemeClr val="bg1"/>
                </a:solidFill>
              </a:rPr>
              <a:t>спех артиста во многом зависит от живых выступлений.</a:t>
            </a:r>
          </a:p>
          <a:p>
            <a:pPr algn="l"/>
            <a:r>
              <a:rPr lang="ru-RU" sz="2800" dirty="0" smtClean="0">
                <a:solidFill>
                  <a:schemeClr val="bg1"/>
                </a:solidFill>
              </a:rPr>
              <a:t>Главные отличия моего приложения</a:t>
            </a:r>
            <a:r>
              <a:rPr lang="en-US" sz="2800" dirty="0" smtClean="0">
                <a:solidFill>
                  <a:schemeClr val="bg1"/>
                </a:solidFill>
              </a:rPr>
              <a:t>: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</a:rPr>
              <a:t>Множество вариаций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chemeClr val="bg1"/>
                </a:solidFill>
              </a:rPr>
              <a:t>Работает </a:t>
            </a:r>
            <a:r>
              <a:rPr lang="ru-RU" sz="2800" dirty="0">
                <a:solidFill>
                  <a:schemeClr val="bg1"/>
                </a:solidFill>
              </a:rPr>
              <a:t>в реальном времени</a:t>
            </a:r>
          </a:p>
          <a:p>
            <a:pPr algn="l"/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5956" y="3488563"/>
            <a:ext cx="5096044" cy="3369437"/>
          </a:xfr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599" y="253323"/>
            <a:ext cx="5105401" cy="3235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640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74192" y="0"/>
            <a:ext cx="10515600" cy="1325563"/>
          </a:xfrm>
        </p:spPr>
        <p:txBody>
          <a:bodyPr/>
          <a:lstStyle/>
          <a:p>
            <a:pPr algn="ctr"/>
            <a:r>
              <a:rPr lang="ru-RU" dirty="0" smtClean="0">
                <a:solidFill>
                  <a:schemeClr val="bg1"/>
                </a:solidFill>
                <a:latin typeface="Sylfaen" panose="010A0502050306030303" pitchFamily="18" charset="0"/>
              </a:rPr>
              <a:t>Принцип визуализации</a:t>
            </a:r>
            <a:endParaRPr lang="ru-RU" dirty="0">
              <a:solidFill>
                <a:schemeClr val="bg1"/>
              </a:solidFill>
              <a:latin typeface="Sylfaen" panose="010A0502050306030303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3383" y="1325563"/>
            <a:ext cx="5698617" cy="3487039"/>
          </a:xfrm>
        </p:spPr>
      </p:pic>
      <p:sp>
        <p:nvSpPr>
          <p:cNvPr id="10" name="TextBox 9"/>
          <p:cNvSpPr txBox="1"/>
          <p:nvPr/>
        </p:nvSpPr>
        <p:spPr>
          <a:xfrm>
            <a:off x="774191" y="1325563"/>
            <a:ext cx="5462017" cy="3416320"/>
          </a:xfrm>
          <a:prstGeom prst="rect">
            <a:avLst/>
          </a:prstGeom>
          <a:solidFill>
            <a:schemeClr val="tx1">
              <a:alpha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ru-RU" sz="2400" dirty="0" smtClean="0">
                <a:solidFill>
                  <a:schemeClr val="bg1"/>
                </a:solidFill>
              </a:rPr>
              <a:t>На экране расположено несколько </a:t>
            </a:r>
            <a:br>
              <a:rPr lang="ru-RU" sz="2400" dirty="0" smtClean="0">
                <a:solidFill>
                  <a:schemeClr val="bg1"/>
                </a:solidFill>
              </a:rPr>
            </a:br>
            <a:r>
              <a:rPr lang="ru-RU" sz="2400" dirty="0" smtClean="0">
                <a:solidFill>
                  <a:schemeClr val="bg1"/>
                </a:solidFill>
              </a:rPr>
              <a:t>(от 1 до </a:t>
            </a:r>
            <a:r>
              <a:rPr lang="ru-RU" sz="2400" dirty="0">
                <a:solidFill>
                  <a:schemeClr val="bg1"/>
                </a:solidFill>
              </a:rPr>
              <a:t>8</a:t>
            </a:r>
            <a:r>
              <a:rPr lang="ru-RU" sz="2400" dirty="0" smtClean="0">
                <a:solidFill>
                  <a:schemeClr val="bg1"/>
                </a:solidFill>
              </a:rPr>
              <a:t>) проводников с током. Из хаотично разбросанных точек на экране появляются линии, показывающие векторы магнитной индукции. Так как магнитными линиями проводников с током являются окружности, то векторами будут являться касательные к ним.</a:t>
            </a: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2060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74060" y="0"/>
            <a:ext cx="5643880" cy="1325563"/>
          </a:xfrm>
        </p:spPr>
        <p:txBody>
          <a:bodyPr>
            <a:normAutofit/>
          </a:bodyPr>
          <a:lstStyle/>
          <a:p>
            <a:r>
              <a:rPr lang="ru-RU" sz="7200" dirty="0" smtClean="0">
                <a:solidFill>
                  <a:schemeClr val="bg1"/>
                </a:solidFill>
                <a:latin typeface="Sylfaen" panose="010A0502050306030303" pitchFamily="18" charset="0"/>
              </a:rPr>
              <a:t>Цель проекта</a:t>
            </a:r>
            <a:endParaRPr lang="ru-RU" sz="7200" dirty="0">
              <a:solidFill>
                <a:schemeClr val="bg1"/>
              </a:solidFill>
              <a:latin typeface="Sylfaen" panose="010A0502050306030303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947545"/>
            <a:ext cx="10515600" cy="2999359"/>
          </a:xfrm>
          <a:solidFill>
            <a:schemeClr val="tx1">
              <a:alpha val="4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solidFill>
                  <a:schemeClr val="bg1"/>
                </a:solidFill>
              </a:rPr>
              <a:t>Главная </a:t>
            </a:r>
            <a:r>
              <a:rPr lang="ru-RU" dirty="0" smtClean="0">
                <a:solidFill>
                  <a:schemeClr val="bg1"/>
                </a:solidFill>
              </a:rPr>
              <a:t>цель </a:t>
            </a:r>
            <a:r>
              <a:rPr lang="ru-RU" dirty="0">
                <a:solidFill>
                  <a:schemeClr val="bg1"/>
                </a:solidFill>
              </a:rPr>
              <a:t>– украсить концерты, сделать их более </a:t>
            </a:r>
            <a:r>
              <a:rPr lang="ru-RU" dirty="0" smtClean="0">
                <a:solidFill>
                  <a:schemeClr val="bg1"/>
                </a:solidFill>
              </a:rPr>
              <a:t>запоминающимися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ru-RU" dirty="0" smtClean="0">
                <a:solidFill>
                  <a:schemeClr val="bg1"/>
                </a:solidFill>
              </a:rPr>
              <a:t>с помощью приложения, которое создает динамическую визуализацию одновременно с проигрыванием аудиофайла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r>
              <a:rPr lang="ru-RU" dirty="0" smtClean="0">
                <a:solidFill>
                  <a:schemeClr val="bg1"/>
                </a:solidFill>
              </a:rPr>
              <a:t>Проект рассчитан на артистов, </a:t>
            </a:r>
            <a:r>
              <a:rPr lang="ru-RU" dirty="0">
                <a:solidFill>
                  <a:schemeClr val="bg1"/>
                </a:solidFill>
              </a:rPr>
              <a:t>выступления которых связаны с электронной музыкой. Но приложением также могут пользоваться обычные люди, которым интересно увидеть визуализацию звука.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09642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62860" y="91440"/>
            <a:ext cx="7066280" cy="1325563"/>
          </a:xfrm>
        </p:spPr>
        <p:txBody>
          <a:bodyPr>
            <a:normAutofit fontScale="90000"/>
          </a:bodyPr>
          <a:lstStyle/>
          <a:p>
            <a:r>
              <a:rPr lang="ru-RU" sz="7200" dirty="0" smtClean="0">
                <a:solidFill>
                  <a:schemeClr val="bg1"/>
                </a:solidFill>
                <a:latin typeface="Sylfaen" panose="010A0502050306030303" pitchFamily="18" charset="0"/>
              </a:rPr>
              <a:t>Функции системы</a:t>
            </a:r>
            <a:endParaRPr lang="ru-RU" sz="7200" dirty="0">
              <a:solidFill>
                <a:schemeClr val="bg1"/>
              </a:solidFill>
              <a:latin typeface="Sylfaen" panose="010A0502050306030303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94360" y="1853057"/>
            <a:ext cx="11003280" cy="3958463"/>
          </a:xfrm>
          <a:solidFill>
            <a:schemeClr val="tx1">
              <a:alpha val="40000"/>
            </a:schemeClr>
          </a:solidFill>
        </p:spPr>
        <p:txBody>
          <a:bodyPr>
            <a:norm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Полностью автономный режим. Необходимо выбрать способ ввода, размер фрейма*, количество проводников с током и их характеристики, далее нужно запустить визуализацию.</a:t>
            </a:r>
          </a:p>
          <a:p>
            <a:r>
              <a:rPr lang="ru-RU" dirty="0" smtClean="0">
                <a:solidFill>
                  <a:schemeClr val="bg1"/>
                </a:solidFill>
              </a:rPr>
              <a:t>Во втором режиме пользователь также выбирает количество проводников и их характеристики, но кроме этого необходимо выбрать аудиофайл(</a:t>
            </a:r>
            <a:r>
              <a:rPr lang="en-US" dirty="0" smtClean="0">
                <a:solidFill>
                  <a:schemeClr val="bg1"/>
                </a:solidFill>
              </a:rPr>
              <a:t>WAV)</a:t>
            </a:r>
            <a:r>
              <a:rPr lang="ru-RU" dirty="0" smtClean="0">
                <a:solidFill>
                  <a:schemeClr val="bg1"/>
                </a:solidFill>
              </a:rPr>
              <a:t>, который надо визуализировать. Далее также идет запуск.</a:t>
            </a:r>
          </a:p>
          <a:p>
            <a:pPr marL="0" indent="0">
              <a:buNone/>
            </a:pPr>
            <a:r>
              <a:rPr lang="ru-RU" dirty="0" smtClean="0">
                <a:solidFill>
                  <a:schemeClr val="bg1"/>
                </a:solidFill>
              </a:rPr>
              <a:t>*</a:t>
            </a:r>
            <a:r>
              <a:rPr lang="ru-RU" dirty="0">
                <a:solidFill>
                  <a:schemeClr val="bg1"/>
                </a:solidFill>
              </a:rPr>
              <a:t>Фрейм – аудио фрагмент, на основе данных которого строится следующий шаг визуализации.</a:t>
            </a:r>
          </a:p>
          <a:p>
            <a:pPr marL="0" indent="0">
              <a:buNone/>
            </a:pPr>
            <a:endParaRPr lang="ru-RU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8851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82240" y="365125"/>
            <a:ext cx="6827520" cy="1325563"/>
          </a:xfrm>
        </p:spPr>
        <p:txBody>
          <a:bodyPr>
            <a:normAutofit/>
          </a:bodyPr>
          <a:lstStyle/>
          <a:p>
            <a:r>
              <a:rPr lang="ru-RU" sz="6500" dirty="0">
                <a:solidFill>
                  <a:schemeClr val="bg1"/>
                </a:solidFill>
                <a:latin typeface="Sylfaen" panose="010A0502050306030303" pitchFamily="18" charset="0"/>
              </a:rPr>
              <a:t>Функции системы</a:t>
            </a:r>
            <a:endParaRPr lang="ru-RU" sz="65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solidFill>
            <a:schemeClr val="tx1">
              <a:alpha val="40000"/>
            </a:schemeClr>
          </a:solidFill>
        </p:spPr>
        <p:txBody>
          <a:bodyPr/>
          <a:lstStyle/>
          <a:p>
            <a:r>
              <a:rPr lang="ru-RU" dirty="0" smtClean="0">
                <a:solidFill>
                  <a:schemeClr val="bg1"/>
                </a:solidFill>
              </a:rPr>
              <a:t>Экран настроек. Здесь можно изменить количество проводников, цвет поля и векторов, ширину векторов, размер фрейма.</a:t>
            </a:r>
          </a:p>
          <a:p>
            <a:r>
              <a:rPr lang="ru-RU" dirty="0" smtClean="0">
                <a:solidFill>
                  <a:schemeClr val="bg1"/>
                </a:solidFill>
              </a:rPr>
              <a:t>Окно проводника. Запускается при нажатии на кнопку проводника на экране настроек. Пользователь может настроить фильтры проводника, направление тока в нем.</a:t>
            </a:r>
          </a:p>
          <a:p>
            <a:r>
              <a:rPr lang="ru-RU" dirty="0" smtClean="0">
                <a:solidFill>
                  <a:schemeClr val="bg1"/>
                </a:solidFill>
              </a:rPr>
              <a:t>Основной экран или поле. Этот экран запускается при работе приложения. Здесь расположены проводники и векторы. </a:t>
            </a:r>
          </a:p>
          <a:p>
            <a:r>
              <a:rPr lang="ru-RU" dirty="0" smtClean="0">
                <a:solidFill>
                  <a:schemeClr val="bg1"/>
                </a:solidFill>
              </a:rPr>
              <a:t>Экран «редактор». Это тоже поле, но тут видны проводники, также можно изменить размер основного экрана.</a:t>
            </a:r>
          </a:p>
          <a:p>
            <a:pPr marL="0" indent="0">
              <a:buNone/>
            </a:pP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523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46880" y="0"/>
            <a:ext cx="3698240" cy="1325563"/>
          </a:xfrm>
        </p:spPr>
        <p:txBody>
          <a:bodyPr>
            <a:normAutofit/>
          </a:bodyPr>
          <a:lstStyle/>
          <a:p>
            <a:r>
              <a:rPr lang="ru-RU" sz="7200" dirty="0" smtClean="0">
                <a:solidFill>
                  <a:schemeClr val="bg1"/>
                </a:solidFill>
                <a:latin typeface="Sylfaen" panose="010A0502050306030303" pitchFamily="18" charset="0"/>
              </a:rPr>
              <a:t>Аналоги</a:t>
            </a:r>
            <a:endParaRPr lang="ru-RU" sz="7200" dirty="0">
              <a:solidFill>
                <a:schemeClr val="bg1"/>
              </a:solidFill>
              <a:latin typeface="Sylfaen" panose="010A0502050306030303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2085149"/>
          </a:xfrm>
          <a:solidFill>
            <a:schemeClr val="tx1">
              <a:alpha val="40000"/>
            </a:schemeClr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 smtClean="0">
                <a:solidFill>
                  <a:schemeClr val="bg1"/>
                </a:solidFill>
              </a:rPr>
              <a:t>Главное отличие от аналогов заключается в том, что моя программа работает в режиме реального времени и имеет большую вариативность.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err="1" smtClean="0">
                <a:solidFill>
                  <a:schemeClr val="bg1"/>
                </a:solidFill>
              </a:rPr>
              <a:t>Kauna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err="1" smtClean="0">
                <a:solidFill>
                  <a:schemeClr val="bg1"/>
                </a:solidFill>
              </a:rPr>
              <a:t>MilkDrop</a:t>
            </a:r>
            <a:endParaRPr lang="en-US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330702"/>
            <a:ext cx="5398008" cy="303638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8324" y="3330702"/>
            <a:ext cx="3795476" cy="3036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446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98490" y="193410"/>
            <a:ext cx="10515600" cy="1666875"/>
          </a:xfrm>
        </p:spPr>
        <p:txBody>
          <a:bodyPr>
            <a:noAutofit/>
          </a:bodyPr>
          <a:lstStyle/>
          <a:p>
            <a:pPr algn="ctr"/>
            <a:r>
              <a:rPr lang="ru-RU" sz="7200" dirty="0" smtClean="0">
                <a:solidFill>
                  <a:schemeClr val="bg1"/>
                </a:solidFill>
                <a:latin typeface="Sylfaen" panose="010A0502050306030303" pitchFamily="18" charset="0"/>
              </a:rPr>
              <a:t>Алгоритмы и средства реализации</a:t>
            </a:r>
            <a:endParaRPr lang="ru-RU" sz="7200" dirty="0">
              <a:solidFill>
                <a:schemeClr val="bg1"/>
              </a:solidFill>
              <a:latin typeface="Sylfaen" panose="010A0502050306030303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23424" y="2110155"/>
            <a:ext cx="10515600" cy="2196670"/>
          </a:xfrm>
          <a:solidFill>
            <a:schemeClr val="tx1">
              <a:alpha val="40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V</a:t>
            </a:r>
            <a:r>
              <a:rPr lang="en-US" dirty="0" smtClean="0">
                <a:solidFill>
                  <a:schemeClr val="bg1"/>
                </a:solidFill>
              </a:rPr>
              <a:t>isual Studio 2015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C#</a:t>
            </a:r>
            <a:endParaRPr lang="ru-RU" dirty="0" smtClean="0">
              <a:solidFill>
                <a:schemeClr val="bg1"/>
              </a:solidFill>
            </a:endParaRPr>
          </a:p>
          <a:p>
            <a:r>
              <a:rPr lang="ru-RU" dirty="0" smtClean="0">
                <a:solidFill>
                  <a:schemeClr val="bg1"/>
                </a:solidFill>
              </a:rPr>
              <a:t>Библиотека </a:t>
            </a:r>
            <a:r>
              <a:rPr lang="en-US" dirty="0">
                <a:solidFill>
                  <a:schemeClr val="bg1"/>
                </a:solidFill>
              </a:rPr>
              <a:t>Accord.NET Framework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ru-RU" dirty="0" smtClean="0">
                <a:solidFill>
                  <a:schemeClr val="bg1"/>
                </a:solidFill>
              </a:rPr>
              <a:t>Алгоритм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ru-RU" dirty="0" smtClean="0">
                <a:solidFill>
                  <a:schemeClr val="bg1"/>
                </a:solidFill>
              </a:rPr>
              <a:t>построения векторов магнитной индукции</a:t>
            </a:r>
            <a:endParaRPr lang="ru-RU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2897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75488" y="73153"/>
            <a:ext cx="10192512" cy="2212847"/>
          </a:xfrm>
        </p:spPr>
        <p:txBody>
          <a:bodyPr>
            <a:noAutofit/>
          </a:bodyPr>
          <a:lstStyle/>
          <a:p>
            <a:pPr algn="l"/>
            <a:r>
              <a:rPr lang="ru-RU" sz="5400" dirty="0">
                <a:solidFill>
                  <a:schemeClr val="bg1"/>
                </a:solidFill>
                <a:latin typeface="Sylfaen" panose="010A0502050306030303" pitchFamily="18" charset="0"/>
              </a:rPr>
              <a:t>Алгоритм</a:t>
            </a:r>
            <a:r>
              <a:rPr lang="en-US" sz="5400" dirty="0">
                <a:solidFill>
                  <a:schemeClr val="bg1"/>
                </a:solidFill>
                <a:latin typeface="Sylfaen" panose="010A0502050306030303" pitchFamily="18" charset="0"/>
              </a:rPr>
              <a:t> </a:t>
            </a:r>
            <a:r>
              <a:rPr lang="ru-RU" sz="5400" dirty="0">
                <a:solidFill>
                  <a:schemeClr val="bg1"/>
                </a:solidFill>
                <a:latin typeface="Sylfaen" panose="010A0502050306030303" pitchFamily="18" charset="0"/>
              </a:rPr>
              <a:t>построения векторов магнитной индукции</a:t>
            </a:r>
            <a:br>
              <a:rPr lang="ru-RU" sz="5400" dirty="0">
                <a:solidFill>
                  <a:schemeClr val="bg1"/>
                </a:solidFill>
                <a:latin typeface="Sylfaen" panose="010A0502050306030303" pitchFamily="18" charset="0"/>
              </a:rPr>
            </a:br>
            <a:endParaRPr lang="ru-RU" sz="5400" dirty="0">
              <a:solidFill>
                <a:schemeClr val="bg1"/>
              </a:solidFill>
              <a:latin typeface="Sylfaen" panose="010A05020503060303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одзаголовок 6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237745" y="2705448"/>
                <a:ext cx="8062602" cy="3256440"/>
              </a:xfrm>
              <a:solidFill>
                <a:schemeClr val="tx1">
                  <a:alpha val="40000"/>
                </a:schemeClr>
              </a:solidFill>
            </p:spPr>
            <p:txBody>
              <a:bodyPr>
                <a:normAutofit/>
              </a:bodyPr>
              <a:lstStyle/>
              <a:p>
                <a:pPr marL="457200" indent="-457200" algn="l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ru-RU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ru-RU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ru-RU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ru-RU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ru-RU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ru-RU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>
                    <a:solidFill>
                      <a:schemeClr val="bg1"/>
                    </a:solidFill>
                  </a:rPr>
                  <a:t>– уравнение </a:t>
                </a:r>
                <a:r>
                  <a:rPr lang="ru-RU" dirty="0" smtClean="0">
                    <a:solidFill>
                      <a:schemeClr val="bg1"/>
                    </a:solidFill>
                  </a:rPr>
                  <a:t>прямой</a:t>
                </a:r>
              </a:p>
              <a:p>
                <a:pPr marL="457200" indent="-457200" algn="l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ru-RU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ru-RU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ru-RU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ru-RU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ru-RU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ru-RU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𝑚𝑎𝑥𝑠𝑎𝑚𝑝𝑙𝑒</m:t>
                        </m:r>
                      </m:num>
                      <m:den>
                        <m:r>
                          <a:rPr lang="ru-RU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a:rPr lang="ru-RU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ru-RU" dirty="0" smtClean="0">
                  <a:solidFill>
                    <a:schemeClr val="bg1"/>
                  </a:solidFill>
                </a:endParaRPr>
              </a:p>
              <a:p>
                <a:pPr marL="514350" indent="-514350" algn="l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ru-RU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ru-RU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 −</m:t>
                    </m:r>
                    <m:f>
                      <m:fPr>
                        <m:ctrlPr>
                          <a:rPr lang="ru-RU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ru-RU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ru-RU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ru-RU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ru-RU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>
                    <a:solidFill>
                      <a:schemeClr val="bg1"/>
                    </a:solidFill>
                  </a:rPr>
                  <a:t> – уравнение прямой, которая перпендикулярна </a:t>
                </a:r>
                <a14:m>
                  <m:oMath xmlns:m="http://schemas.openxmlformats.org/officeDocument/2006/math">
                    <m:r>
                      <a:rPr lang="ru-RU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ru-RU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ru-RU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ru-RU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ru-RU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ru-RU" dirty="0">
                  <a:solidFill>
                    <a:schemeClr val="bg1"/>
                  </a:solidFill>
                </a:endParaRPr>
              </a:p>
              <a:p>
                <a:pPr marL="514350" indent="-514350" algn="l"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ru-RU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ru-RU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ru-RU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ru-RU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ru-RU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2−</m:t>
                        </m:r>
                        <m:r>
                          <a:rPr lang="ru-RU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ru-RU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1)</m:t>
                        </m:r>
                      </m:e>
                      <m:sup>
                        <m:r>
                          <a:rPr lang="ru-RU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ru-RU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ru-RU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ru-RU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ru-RU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2−</m:t>
                        </m:r>
                        <m:r>
                          <a:rPr lang="ru-RU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ru-RU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1)</m:t>
                        </m:r>
                      </m:e>
                      <m:sup>
                        <m:r>
                          <a:rPr lang="ru-RU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dirty="0">
                    <a:solidFill>
                      <a:schemeClr val="bg1"/>
                    </a:solidFill>
                  </a:rPr>
                  <a:t> и  </a:t>
                </a:r>
                <a14:m>
                  <m:oMath xmlns:m="http://schemas.openxmlformats.org/officeDocument/2006/math">
                    <m:r>
                      <a:rPr lang="ru-RU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ru-RU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2= −</m:t>
                    </m:r>
                    <m:f>
                      <m:fPr>
                        <m:ctrlPr>
                          <a:rPr lang="ru-RU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ru-RU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ru-RU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ru-RU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ru-RU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ru-RU" dirty="0">
                    <a:solidFill>
                      <a:schemeClr val="bg1"/>
                    </a:solidFill>
                  </a:rPr>
                  <a:t> </a:t>
                </a:r>
              </a:p>
              <a:p>
                <a:pPr marL="457200" indent="-457200" algn="l">
                  <a:buFont typeface="+mj-lt"/>
                  <a:buAutoNum type="arabicPeriod"/>
                </a:pPr>
                <a:endParaRPr lang="ru-RU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Подзаголовок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237745" y="2705448"/>
                <a:ext cx="8062602" cy="3256440"/>
              </a:xfrm>
              <a:blipFill rotWithShape="0">
                <a:blip r:embed="rId2"/>
                <a:stretch>
                  <a:fillRect l="-1209" t="-280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Объект 3"/>
          <p:cNvPicPr>
            <a:picLocks noGrp="1" noChangeAspect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4816" y="4142915"/>
            <a:ext cx="3377184" cy="2715086"/>
          </a:xfr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0347" y="1450007"/>
            <a:ext cx="3891653" cy="2692908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745" y="1543364"/>
            <a:ext cx="2212848" cy="11620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450593" y="1526228"/>
                <a:ext cx="4692074" cy="646331"/>
              </a:xfrm>
              <a:prstGeom prst="rect">
                <a:avLst/>
              </a:prstGeom>
              <a:solidFill>
                <a:schemeClr val="tx1">
                  <a:alpha val="4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MS Gothic" panose="020B0609070205080204" pitchFamily="49" charset="-128"/>
                      </a:rPr>
                      <m:t>𝐼</m:t>
                    </m:r>
                  </m:oMath>
                </a14:m>
                <a:r>
                  <a:rPr lang="en-US" dirty="0" smtClean="0">
                    <a:solidFill>
                      <a:schemeClr val="bg1"/>
                    </a:solidFill>
                    <a:latin typeface="Perpetua Titling MT" panose="02020502060505020804" pitchFamily="18" charset="0"/>
                    <a:ea typeface="MS Gothic" panose="020B0609070205080204" pitchFamily="49" charset="-128"/>
                  </a:rPr>
                  <a:t> </a:t>
                </a:r>
                <a:r>
                  <a:rPr lang="en-US" dirty="0">
                    <a:solidFill>
                      <a:schemeClr val="bg1"/>
                    </a:solidFill>
                    <a:ea typeface="MS Gothic" panose="020B0609070205080204" pitchFamily="49" charset="-128"/>
                  </a:rPr>
                  <a:t>– </a:t>
                </a:r>
                <a:r>
                  <a:rPr lang="ru-RU" dirty="0">
                    <a:solidFill>
                      <a:schemeClr val="bg1"/>
                    </a:solidFill>
                    <a:ea typeface="MS Gothic" panose="020B0609070205080204" pitchFamily="49" charset="-128"/>
                  </a:rPr>
                  <a:t>сила тока в проводнике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 smtClean="0">
                    <a:solidFill>
                      <a:schemeClr val="bg1"/>
                    </a:solidFill>
                    <a:latin typeface="Perpetua Titling MT" panose="02020502060505020804" pitchFamily="18" charset="0"/>
                    <a:ea typeface="MS Gothic" panose="020B0609070205080204" pitchFamily="49" charset="-128"/>
                  </a:rPr>
                  <a:t> </a:t>
                </a:r>
                <a:r>
                  <a:rPr lang="ru-RU" dirty="0">
                    <a:solidFill>
                      <a:schemeClr val="bg1"/>
                    </a:solidFill>
                    <a:ea typeface="MS Gothic" panose="020B0609070205080204" pitchFamily="49" charset="-128"/>
                  </a:rPr>
                  <a:t>– магнитная постоянная </a:t>
                </a:r>
                <a:endParaRPr lang="ru-RU" dirty="0">
                  <a:solidFill>
                    <a:schemeClr val="bg1"/>
                  </a:solidFill>
                  <a:latin typeface="MS Gothic" panose="020B0609070205080204" pitchFamily="49" charset="-128"/>
                  <a:ea typeface="MS Gothic" panose="020B0609070205080204" pitchFamily="49" charset="-128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0593" y="1526228"/>
                <a:ext cx="4692074" cy="646331"/>
              </a:xfrm>
              <a:prstGeom prst="rect">
                <a:avLst/>
              </a:prstGeom>
              <a:blipFill rotWithShape="0">
                <a:blip r:embed="rId6"/>
                <a:stretch>
                  <a:fillRect t="-4717" b="-150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3626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chemeClr val="bg1"/>
                </a:solidFill>
              </a:rPr>
              <a:t>Как работает визуализация 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96615"/>
          </a:xfrm>
          <a:solidFill>
            <a:schemeClr val="tx1">
              <a:alpha val="40000"/>
            </a:schemeClr>
          </a:solidFill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 smtClean="0">
                <a:solidFill>
                  <a:schemeClr val="bg1"/>
                </a:solidFill>
              </a:rPr>
              <a:t>Программа принимает звуковой фрагмент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>
                <a:solidFill>
                  <a:schemeClr val="bg1"/>
                </a:solidFill>
              </a:rPr>
              <a:t>Каждый проводник фильтрует оригинальный фрагмент и получает новый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>
                <a:solidFill>
                  <a:schemeClr val="bg1"/>
                </a:solidFill>
              </a:rPr>
              <a:t>Для каждой точки рассчитывается вектор путем определения  значения максимального семпла у каждого отфильтрованного фрагмента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>
                <a:solidFill>
                  <a:schemeClr val="bg1"/>
                </a:solidFill>
              </a:rPr>
              <a:t>Далее происходит рисование векторов</a:t>
            </a:r>
            <a:endParaRPr lang="ru-RU" dirty="0">
              <a:solidFill>
                <a:schemeClr val="bg1"/>
              </a:solidFill>
            </a:endParaRPr>
          </a:p>
          <a:p>
            <a:pPr marL="514350" indent="-514350">
              <a:buFont typeface="+mj-lt"/>
              <a:buAutoNum type="arabicPeriod"/>
            </a:pPr>
            <a:endParaRPr lang="ru-RU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5266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43205"/>
            <a:ext cx="10515600" cy="1575435"/>
          </a:xfrm>
        </p:spPr>
        <p:txBody>
          <a:bodyPr>
            <a:noAutofit/>
          </a:bodyPr>
          <a:lstStyle/>
          <a:p>
            <a:pPr algn="ctr"/>
            <a:r>
              <a:rPr lang="ru-RU" sz="7200" dirty="0" smtClean="0">
                <a:solidFill>
                  <a:schemeClr val="bg1"/>
                </a:solidFill>
                <a:latin typeface="Sylfaen" panose="010A0502050306030303" pitchFamily="18" charset="0"/>
              </a:rPr>
              <a:t>Результат и дальнейшая разработка</a:t>
            </a:r>
            <a:endParaRPr lang="ru-RU" sz="7200" dirty="0">
              <a:solidFill>
                <a:schemeClr val="bg1"/>
              </a:solidFill>
              <a:latin typeface="Sylfaen" panose="010A0502050306030303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2642617"/>
            <a:ext cx="10515600" cy="3402584"/>
          </a:xfrm>
          <a:solidFill>
            <a:schemeClr val="tx1">
              <a:alpha val="40000"/>
            </a:schemeClr>
          </a:solidFill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Создано </a:t>
            </a:r>
            <a:r>
              <a:rPr lang="ru-RU" dirty="0" smtClean="0">
                <a:solidFill>
                  <a:schemeClr val="bg1"/>
                </a:solidFill>
              </a:rPr>
              <a:t>приложение </a:t>
            </a:r>
            <a:r>
              <a:rPr lang="ru-RU" dirty="0">
                <a:solidFill>
                  <a:schemeClr val="bg1"/>
                </a:solidFill>
              </a:rPr>
              <a:t>с работающим режимом визуализации звука из линейного входа, с режимом визуализации звука из </a:t>
            </a:r>
            <a:r>
              <a:rPr lang="en-US" dirty="0">
                <a:solidFill>
                  <a:schemeClr val="bg1"/>
                </a:solidFill>
              </a:rPr>
              <a:t>wav </a:t>
            </a:r>
            <a:r>
              <a:rPr lang="ru-RU" dirty="0">
                <a:solidFill>
                  <a:schemeClr val="bg1"/>
                </a:solidFill>
              </a:rPr>
              <a:t>файла, но работающим </a:t>
            </a:r>
            <a:r>
              <a:rPr lang="ru-RU" dirty="0" smtClean="0">
                <a:solidFill>
                  <a:schemeClr val="bg1"/>
                </a:solidFill>
              </a:rPr>
              <a:t>хуже</a:t>
            </a:r>
          </a:p>
          <a:p>
            <a:r>
              <a:rPr lang="ru-RU" dirty="0" smtClean="0">
                <a:solidFill>
                  <a:schemeClr val="bg1"/>
                </a:solidFill>
              </a:rPr>
              <a:t>В дальнейшем планируется добавление режима визуализации с помощью </a:t>
            </a:r>
            <a:r>
              <a:rPr lang="en-US" dirty="0" smtClean="0">
                <a:solidFill>
                  <a:schemeClr val="bg1"/>
                </a:solidFill>
              </a:rPr>
              <a:t>MIDI</a:t>
            </a:r>
            <a:r>
              <a:rPr lang="ru-RU" dirty="0" smtClean="0">
                <a:solidFill>
                  <a:schemeClr val="bg1"/>
                </a:solidFill>
              </a:rPr>
              <a:t>, а также добавление разных способов визуализации</a:t>
            </a:r>
          </a:p>
          <a:p>
            <a:r>
              <a:rPr lang="ru-RU" dirty="0" smtClean="0">
                <a:solidFill>
                  <a:schemeClr val="bg1"/>
                </a:solidFill>
              </a:rPr>
              <a:t>Необходимо исправить ошибки данной версии программы</a:t>
            </a:r>
            <a:endParaRPr lang="ru-RU" dirty="0">
              <a:solidFill>
                <a:schemeClr val="bg1"/>
              </a:solidFill>
            </a:endParaRPr>
          </a:p>
          <a:p>
            <a:endParaRPr lang="ru-RU" dirty="0" smtClean="0"/>
          </a:p>
          <a:p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4833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58656" y="0"/>
            <a:ext cx="8074688" cy="1325563"/>
          </a:xfrm>
        </p:spPr>
        <p:txBody>
          <a:bodyPr>
            <a:normAutofit/>
          </a:bodyPr>
          <a:lstStyle/>
          <a:p>
            <a:r>
              <a:rPr lang="ru-RU" sz="7200" dirty="0" smtClean="0">
                <a:solidFill>
                  <a:schemeClr val="bg1"/>
                </a:solidFill>
                <a:latin typeface="Sylfaen" panose="010A0502050306030303" pitchFamily="18" charset="0"/>
              </a:rPr>
              <a:t>Список материалов</a:t>
            </a:r>
            <a:endParaRPr lang="ru-RU" sz="7200" dirty="0">
              <a:solidFill>
                <a:schemeClr val="bg1"/>
              </a:solidFill>
              <a:latin typeface="Sylfaen" panose="010A0502050306030303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32079" y="1789049"/>
            <a:ext cx="11354637" cy="1210183"/>
          </a:xfrm>
          <a:solidFill>
            <a:schemeClr val="tx1">
              <a:alpha val="40000"/>
            </a:schemeClr>
          </a:solidFill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 smtClean="0">
                <a:solidFill>
                  <a:schemeClr val="bg1"/>
                </a:solidFill>
              </a:rPr>
              <a:t>Физмат, </a:t>
            </a:r>
            <a:r>
              <a:rPr lang="en-US" dirty="0">
                <a:solidFill>
                  <a:schemeClr val="bg1"/>
                </a:solidFill>
                <a:hlinkClick r:id="rId2"/>
              </a:rPr>
              <a:t>http://</a:t>
            </a:r>
            <a:r>
              <a:rPr lang="en-US" dirty="0" smtClean="0">
                <a:solidFill>
                  <a:schemeClr val="bg1"/>
                </a:solidFill>
                <a:hlinkClick r:id="rId2"/>
              </a:rPr>
              <a:t>fizmat.by/magnit_pole</a:t>
            </a:r>
            <a:endParaRPr lang="ru-RU" dirty="0" smtClean="0">
              <a:solidFill>
                <a:schemeClr val="bg1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dirty="0" smtClean="0">
                <a:solidFill>
                  <a:schemeClr val="bg1"/>
                </a:solidFill>
              </a:rPr>
              <a:t>Хабр, </a:t>
            </a:r>
            <a:r>
              <a:rPr lang="en-US" dirty="0">
                <a:solidFill>
                  <a:schemeClr val="bg1"/>
                </a:solidFill>
                <a:hlinkClick r:id="rId3"/>
              </a:rPr>
              <a:t>https://</a:t>
            </a:r>
            <a:r>
              <a:rPr lang="en-US" dirty="0" smtClean="0">
                <a:solidFill>
                  <a:schemeClr val="bg1"/>
                </a:solidFill>
                <a:hlinkClick r:id="rId3"/>
              </a:rPr>
              <a:t>habr.com/ru</a:t>
            </a:r>
            <a:endParaRPr lang="en-US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4828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solidFill>
          <a:schemeClr val="tx1">
            <a:alpha val="40000"/>
          </a:schemeClr>
        </a:solidFill>
      </a:spPr>
      <a:bodyPr wrap="square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9627</TotalTime>
  <Words>440</Words>
  <Application>Microsoft Office PowerPoint</Application>
  <PresentationFormat>Широкоэкранный</PresentationFormat>
  <Paragraphs>51</Paragraphs>
  <Slides>12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20" baseType="lpstr">
      <vt:lpstr>MS Gothic</vt:lpstr>
      <vt:lpstr>Arial</vt:lpstr>
      <vt:lpstr>Calibri</vt:lpstr>
      <vt:lpstr>Calibri Light</vt:lpstr>
      <vt:lpstr>Cambria Math</vt:lpstr>
      <vt:lpstr>Perpetua Titling MT</vt:lpstr>
      <vt:lpstr>Sylfaen</vt:lpstr>
      <vt:lpstr>Тема Office</vt:lpstr>
      <vt:lpstr>Приложение для визуализации звука с помощью векторов магнитной индукции  </vt:lpstr>
      <vt:lpstr>Актуальность </vt:lpstr>
      <vt:lpstr>Принцип визуализации</vt:lpstr>
      <vt:lpstr>Цель проекта</vt:lpstr>
      <vt:lpstr>Функции системы</vt:lpstr>
      <vt:lpstr>Функции системы</vt:lpstr>
      <vt:lpstr>Аналоги</vt:lpstr>
      <vt:lpstr>Алгоритмы и средства реализации</vt:lpstr>
      <vt:lpstr>Алгоритм построения векторов магнитной индукции </vt:lpstr>
      <vt:lpstr>Как работает визуализация </vt:lpstr>
      <vt:lpstr>Результат и дальнейшая разработка</vt:lpstr>
      <vt:lpstr>Список материалов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Приложение</dc:title>
  <dc:creator>Лука Марков</dc:creator>
  <cp:lastModifiedBy>Лука Марков</cp:lastModifiedBy>
  <cp:revision>96</cp:revision>
  <dcterms:created xsi:type="dcterms:W3CDTF">2018-12-18T17:49:20Z</dcterms:created>
  <dcterms:modified xsi:type="dcterms:W3CDTF">2019-06-19T09:11:46Z</dcterms:modified>
</cp:coreProperties>
</file>